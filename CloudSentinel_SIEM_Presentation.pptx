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  <p:sldId id="317" r:id="rId9"/>
    <p:sldId id="305" r:id="rId10"/>
    <p:sldId id="306" r:id="rId11"/>
    <p:sldId id="308" r:id="rId12"/>
    <p:sldId id="309" r:id="rId13"/>
    <p:sldId id="310" r:id="rId14"/>
    <p:sldId id="314" r:id="rId15"/>
    <p:sldId id="315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719"/>
    <a:srgbClr val="BFBF37"/>
    <a:srgbClr val="008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4379" autoAdjust="0"/>
  </p:normalViewPr>
  <p:slideViewPr>
    <p:cSldViewPr>
      <p:cViewPr varScale="1">
        <p:scale>
          <a:sx n="69" d="100"/>
          <a:sy n="69" d="100"/>
        </p:scale>
        <p:origin x="1954" y="6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6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team and the project: CloudSentinel, a cloud-ready SIEM and SOC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CloudSentinel is a cloud-native SIEM and SOC platform. It collects logs from firewalls, servers, databases and VPNs, and gives analysts a single live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Three core challenges: alert fatigue, distributed attacks, and telemetry spread across many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objectives: ingest, detect, stream,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roles with role-based access control: Admin for governance and configuration, Analyst for day-to-day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Functional requirements describe what the system does; non-functional describe how well it does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Java 21 and Spring Boot on the backend, React 19 on the frontend. H2 for development, MySQL for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0DA4E-60AC-7C66-92FC-D9E1A413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C220E-D1A1-9AD2-C073-F2848CF533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73530-5625-9AEA-11A5-3EC223056A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Java 21 and Spring Boot on the backend, React 19 on the frontend. H2 for development, MySQL for production.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79885-F97D-EF74-62D4-3F334573B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69173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Follow one log end to end: generated, normalized, detected, alerted, triaged, then handled as an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Nine main modules plus settings and global search. Each maps to a page in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Entry point to the SOC console. Authentication uses signed JWT tokens; demo accounts are available for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Admin view of the SOC Command Center. Note the Governance section in the sidebar, visible only to Admins.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Analyst view: same dashboard, but the Governance section is hidden. This is role-based access control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up: centralize, normalize and detect, respond. Then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320040"/>
            <a:ext cx="4608576" cy="5952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417320"/>
            <a:ext cx="8961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585719"/>
                </a:solidFill>
                <a:latin typeface="Times New Roman"/>
              </a:rPr>
              <a:t>Cloud Computing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89611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 dirty="0">
                <a:solidFill>
                  <a:srgbClr val="585719"/>
                </a:solidFill>
                <a:latin typeface="Times New Roman"/>
              </a:rPr>
              <a:t>REVIEW </a:t>
            </a:r>
            <a:r>
              <a:rPr lang="en-IN" sz="2200" b="1" dirty="0">
                <a:solidFill>
                  <a:srgbClr val="585719"/>
                </a:solidFill>
                <a:latin typeface="Times New Roman"/>
              </a:rPr>
              <a:t>3</a:t>
            </a:r>
            <a:endParaRPr sz="2200" b="1" i="0" dirty="0">
              <a:solidFill>
                <a:srgbClr val="585719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1F3864"/>
                </a:solidFill>
                <a:latin typeface="Times New Roman"/>
              </a:rPr>
              <a:t>CLOUDSENTINEL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62626"/>
                </a:solidFill>
                <a:latin typeface="Times New Roman"/>
              </a:rPr>
              <a:t>Cloud-Ready Enterprise SIEM &amp; SOC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0000"/>
                </a:solidFill>
                <a:latin typeface="Times New Roman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892040"/>
            <a:ext cx="30175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62626"/>
                </a:solidFill>
                <a:latin typeface="Times New Roman"/>
              </a:rPr>
              <a:t>K. Madhu Kiran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62626"/>
                </a:solidFill>
                <a:latin typeface="Times New Roman"/>
              </a:rPr>
              <a:t>N. Dhanunjaya Rao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62626"/>
                </a:solidFill>
                <a:latin typeface="Times New Roman"/>
              </a:rPr>
              <a:t>G. Raja Sekhar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62626"/>
                </a:solidFill>
                <a:latin typeface="Times New Roman"/>
              </a:rPr>
              <a:t>S. Surya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62626"/>
                </a:solidFill>
                <a:latin typeface="Times New Roman"/>
              </a:rPr>
              <a:t>U. Asraf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4892040"/>
            <a:ext cx="2377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62626"/>
                </a:solidFill>
                <a:latin typeface="Times New Roman"/>
              </a:rPr>
              <a:t>(24B11CS182)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62626"/>
                </a:solidFill>
                <a:latin typeface="Times New Roman"/>
              </a:rPr>
              <a:t>(24B11CS299)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62626"/>
                </a:solidFill>
                <a:latin typeface="Times New Roman"/>
              </a:rPr>
              <a:t>(24B11CS128)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62626"/>
                </a:solidFill>
                <a:latin typeface="Times New Roman"/>
              </a:rPr>
              <a:t>(24B11CS389)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62626"/>
                </a:solidFill>
                <a:latin typeface="Times New Roman"/>
              </a:rPr>
              <a:t>(24B11CS516)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949440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070C0"/>
                </a:solidFill>
                <a:latin typeface="Times New Roman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78939"/>
            <a:ext cx="4480560" cy="3000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IN" sz="1950" b="1" dirty="0">
                <a:solidFill>
                  <a:srgbClr val="FFFFFF"/>
                </a:solidFill>
                <a:latin typeface="Times New Roman"/>
              </a:rPr>
              <a:t>ABSTRACT</a:t>
            </a:r>
            <a:endParaRPr sz="1950" b="1" i="0" dirty="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623" y="1828800"/>
            <a:ext cx="8961120" cy="34940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CloudSentinel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cloud-ready SIEM and SOC platform designed to centrally monitor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logs from firewalls, servers, databases, and VPNs. It normalizes security logs, detects threats such as brute-force attacks and port sweeps, and generates real-time alerts. The platform provides a centralized dashboard for security analysts to monitor events, manage alerts, and handle incidents. It is developed using Java, Spring Boot, React, WebSocket, JWT authentication, and MySQL.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20954"/>
            <a:ext cx="4480560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1737360"/>
            <a:ext cx="8961120" cy="5120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7472" indent="-347472" algn="l">
              <a:spcAft>
                <a:spcPts val="2200"/>
              </a:spcAft>
              <a:buFont typeface="Arial"/>
              <a:buChar char="•"/>
            </a:pPr>
            <a:r>
              <a:rPr sz="2200" b="0" dirty="0">
                <a:solidFill>
                  <a:srgbClr val="262626"/>
                </a:solidFill>
                <a:latin typeface="Times New Roman"/>
              </a:rPr>
              <a:t>Security teams face alert fatigue, with too many alerts to triage.</a:t>
            </a:r>
          </a:p>
          <a:p>
            <a:pPr marL="347472" indent="-347472" algn="l">
              <a:spcAft>
                <a:spcPts val="2200"/>
              </a:spcAft>
              <a:buFont typeface="Arial"/>
              <a:buChar char="•"/>
            </a:pPr>
            <a:r>
              <a:rPr sz="2200" b="0" dirty="0">
                <a:solidFill>
                  <a:srgbClr val="262626"/>
                </a:solidFill>
                <a:latin typeface="Times New Roman"/>
              </a:rPr>
              <a:t>Attack vectors are distributed across many origins and stages.</a:t>
            </a:r>
          </a:p>
          <a:p>
            <a:pPr marL="347472" indent="-347472" algn="l">
              <a:spcAft>
                <a:spcPts val="2200"/>
              </a:spcAft>
              <a:buFont typeface="Arial"/>
              <a:buChar char="•"/>
            </a:pPr>
            <a:r>
              <a:rPr sz="2200" b="0" dirty="0">
                <a:solidFill>
                  <a:srgbClr val="262626"/>
                </a:solidFill>
                <a:latin typeface="Times New Roman"/>
              </a:rPr>
              <a:t>Telemetry is fragmented across firewalls, servers, databases and VPNs.</a:t>
            </a:r>
          </a:p>
          <a:p>
            <a:pPr marL="347472" indent="-347472" algn="l">
              <a:spcAft>
                <a:spcPts val="2200"/>
              </a:spcAft>
              <a:buFont typeface="Arial"/>
              <a:buChar char="•"/>
            </a:pPr>
            <a:r>
              <a:rPr sz="2200" b="0" dirty="0">
                <a:solidFill>
                  <a:srgbClr val="262626"/>
                </a:solidFill>
                <a:latin typeface="Times New Roman"/>
              </a:rPr>
              <a:t>Brute-force attempts, port sweeps and multi-stage breaches often go unnoticed.</a:t>
            </a:r>
          </a:p>
          <a:p>
            <a:pPr marL="347472" indent="-347472" algn="l">
              <a:spcAft>
                <a:spcPts val="2200"/>
              </a:spcAft>
              <a:buFont typeface="Arial"/>
              <a:buChar char="•"/>
            </a:pPr>
            <a:r>
              <a:rPr sz="2200" b="0" dirty="0">
                <a:solidFill>
                  <a:srgbClr val="262626"/>
                </a:solidFill>
                <a:latin typeface="Times New Roman"/>
              </a:rPr>
              <a:t>Teams need one real-time view of events, alerts and incidents.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20954"/>
            <a:ext cx="4480560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OBJECTIVES OF THE PROJECT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1645920"/>
            <a:ext cx="8961120" cy="4072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7472" indent="-347472" algn="just">
              <a:spcAft>
                <a:spcPts val="200"/>
              </a:spcAft>
              <a:buFont typeface="Arial"/>
              <a:buChar char="•"/>
            </a:pPr>
            <a:r>
              <a:rPr sz="2200" b="1" dirty="0">
                <a:solidFill>
                  <a:srgbClr val="262626"/>
                </a:solidFill>
                <a:latin typeface="Times New Roman"/>
              </a:rPr>
              <a:t>Unified Telemetry Ingestion</a:t>
            </a:r>
          </a:p>
          <a:p>
            <a:pPr marL="347472" indent="0" algn="just">
              <a:spcAft>
                <a:spcPts val="2400"/>
              </a:spcAft>
              <a:buNone/>
            </a:pPr>
            <a:r>
              <a:rPr sz="2200" b="0" dirty="0">
                <a:solidFill>
                  <a:srgbClr val="262626"/>
                </a:solidFill>
                <a:latin typeface="Times New Roman"/>
              </a:rPr>
              <a:t>Collect and normalize raw logs from firewalls, servers, databases and VPNs.</a:t>
            </a:r>
          </a:p>
          <a:p>
            <a:pPr marL="347472" indent="-347472" algn="just">
              <a:spcAft>
                <a:spcPts val="200"/>
              </a:spcAft>
              <a:buFont typeface="Arial"/>
              <a:buChar char="•"/>
            </a:pPr>
            <a:r>
              <a:rPr sz="2200" b="1" dirty="0">
                <a:solidFill>
                  <a:srgbClr val="262626"/>
                </a:solidFill>
                <a:latin typeface="Times New Roman"/>
              </a:rPr>
              <a:t>Heuristic &amp; Correlated Threat Detection</a:t>
            </a:r>
          </a:p>
          <a:p>
            <a:pPr marL="347472" indent="0" algn="just">
              <a:spcAft>
                <a:spcPts val="2400"/>
              </a:spcAft>
              <a:buNone/>
            </a:pPr>
            <a:r>
              <a:rPr sz="2200" b="0" dirty="0">
                <a:solidFill>
                  <a:srgbClr val="262626"/>
                </a:solidFill>
                <a:latin typeface="Times New Roman"/>
              </a:rPr>
              <a:t>Sliding-window rules catch brute force, port sweeps, credential stuffing and multi-stage breaches.</a:t>
            </a:r>
          </a:p>
          <a:p>
            <a:pPr marL="347472" indent="-347472" algn="just">
              <a:spcAft>
                <a:spcPts val="200"/>
              </a:spcAft>
              <a:buFont typeface="Arial"/>
              <a:buChar char="•"/>
            </a:pPr>
            <a:r>
              <a:rPr sz="2200" b="1" dirty="0">
                <a:solidFill>
                  <a:srgbClr val="262626"/>
                </a:solidFill>
                <a:latin typeface="Times New Roman"/>
              </a:rPr>
              <a:t>Instant SOC Command &amp; Control</a:t>
            </a:r>
          </a:p>
          <a:p>
            <a:pPr marL="347472" indent="0" algn="just">
              <a:spcAft>
                <a:spcPts val="2400"/>
              </a:spcAft>
              <a:buNone/>
            </a:pPr>
            <a:r>
              <a:rPr sz="2200" b="0" dirty="0">
                <a:solidFill>
                  <a:srgbClr val="262626"/>
                </a:solidFill>
                <a:latin typeface="Times New Roman"/>
              </a:rPr>
              <a:t>Stream real-time events and alerts over </a:t>
            </a:r>
            <a:r>
              <a:rPr sz="2200" b="0" dirty="0" err="1">
                <a:solidFill>
                  <a:srgbClr val="262626"/>
                </a:solidFill>
                <a:latin typeface="Times New Roman"/>
              </a:rPr>
              <a:t>WebSockets</a:t>
            </a:r>
            <a:r>
              <a:rPr sz="2200" b="0" dirty="0">
                <a:solidFill>
                  <a:srgbClr val="262626"/>
                </a:solidFill>
                <a:latin typeface="Times New Roman"/>
              </a:rPr>
              <a:t> to a dark SOC interface.</a:t>
            </a:r>
          </a:p>
          <a:p>
            <a:pPr marL="347472" indent="-347472" algn="just">
              <a:spcAft>
                <a:spcPts val="200"/>
              </a:spcAft>
              <a:buFont typeface="Arial"/>
              <a:buChar char="•"/>
            </a:pPr>
            <a:r>
              <a:rPr sz="2200" b="1" dirty="0">
                <a:solidFill>
                  <a:srgbClr val="262626"/>
                </a:solidFill>
                <a:latin typeface="Times New Roman"/>
              </a:rPr>
              <a:t>Full Incident Response Lifecycle</a:t>
            </a:r>
          </a:p>
          <a:p>
            <a:pPr marL="347472" indent="0" algn="just">
              <a:spcAft>
                <a:spcPts val="2400"/>
              </a:spcAft>
              <a:buNone/>
            </a:pPr>
            <a:r>
              <a:rPr sz="2200" b="0" dirty="0">
                <a:solidFill>
                  <a:srgbClr val="262626"/>
                </a:solidFill>
                <a:latin typeface="Times New Roman"/>
              </a:rPr>
              <a:t>Follow NIST SP 800-61 with timelines, analyst notes and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20954"/>
            <a:ext cx="4480560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PROPOSED SOLUTION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045" y="1373688"/>
            <a:ext cx="8961120" cy="5017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CloudSentinel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centralized security monitoring platform that collects logs from different sources such as servers, firewalls, databases, and VPNs.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converts these logs into a common format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them using predefined detection rules to identify suspicious activities.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potential threat is detected, the system generates an alert and displays it on the SOC dashboard in real time.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analysts can investigate alerts, manage incidents, and track their status through the platform.</a:t>
            </a:r>
          </a:p>
          <a:p>
            <a:pPr marL="342900" indent="-342900" algn="just">
              <a:lnSpc>
                <a:spcPct val="150000"/>
              </a:lnSpc>
              <a:spcAft>
                <a:spcPts val="2200"/>
              </a:spcAft>
              <a:buFont typeface="Arial" panose="020B0604020202020204" pitchFamily="34" charset="0"/>
              <a:buChar char="•"/>
            </a:pPr>
            <a:endParaRPr sz="2200" b="0" dirty="0">
              <a:solidFill>
                <a:srgbClr val="26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20954"/>
            <a:ext cx="4480560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REQUIREMENTS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1554480"/>
            <a:ext cx="896112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sz="2100" b="1" dirty="0">
                <a:solidFill>
                  <a:srgbClr val="1F3864"/>
                </a:solidFill>
                <a:latin typeface="Times New Roman"/>
              </a:rPr>
              <a:t>Functional Requirements</a:t>
            </a:r>
          </a:p>
          <a:p>
            <a:pPr marL="347472" indent="-347472" algn="l">
              <a:spcAft>
                <a:spcPts val="800"/>
              </a:spcAft>
              <a:buFont typeface="Arial"/>
              <a:buChar char="•"/>
            </a:pPr>
            <a:r>
              <a:rPr sz="2100" b="0" dirty="0">
                <a:solidFill>
                  <a:srgbClr val="262626"/>
                </a:solidFill>
                <a:latin typeface="Times New Roman"/>
              </a:rPr>
              <a:t>User authentication (JWT &amp; RBAC)</a:t>
            </a:r>
          </a:p>
          <a:p>
            <a:pPr marL="347472" indent="-347472" algn="l">
              <a:spcAft>
                <a:spcPts val="800"/>
              </a:spcAft>
              <a:buFont typeface="Arial"/>
              <a:buChar char="•"/>
            </a:pPr>
            <a:r>
              <a:rPr sz="2100" b="0" dirty="0">
                <a:solidFill>
                  <a:srgbClr val="262626"/>
                </a:solidFill>
                <a:latin typeface="Times New Roman"/>
              </a:rPr>
              <a:t>Log ingestion &amp; normalization</a:t>
            </a:r>
          </a:p>
          <a:p>
            <a:pPr marL="347472" indent="-347472" algn="l">
              <a:spcAft>
                <a:spcPts val="800"/>
              </a:spcAft>
              <a:buFont typeface="Arial"/>
              <a:buChar char="•"/>
            </a:pPr>
            <a:r>
              <a:rPr sz="2100" b="0" dirty="0">
                <a:solidFill>
                  <a:srgbClr val="262626"/>
                </a:solidFill>
                <a:latin typeface="Times New Roman"/>
              </a:rPr>
              <a:t>Threat detection &amp; alerts</a:t>
            </a:r>
          </a:p>
          <a:p>
            <a:pPr marL="347472" indent="-347472" algn="l">
              <a:spcAft>
                <a:spcPts val="800"/>
              </a:spcAft>
              <a:buFont typeface="Arial"/>
              <a:buChar char="•"/>
            </a:pPr>
            <a:r>
              <a:rPr sz="2100" b="0" dirty="0">
                <a:solidFill>
                  <a:srgbClr val="262626"/>
                </a:solidFill>
                <a:latin typeface="Times New Roman"/>
              </a:rPr>
              <a:t>Incident management</a:t>
            </a:r>
          </a:p>
          <a:p>
            <a:pPr marL="347472" indent="-347472" algn="l">
              <a:spcAft>
                <a:spcPts val="800"/>
              </a:spcAft>
              <a:buFont typeface="Arial"/>
              <a:buChar char="•"/>
            </a:pPr>
            <a:r>
              <a:rPr sz="2100" b="0" dirty="0">
                <a:solidFill>
                  <a:srgbClr val="262626"/>
                </a:solidFill>
                <a:latin typeface="Times New Roman"/>
              </a:rPr>
              <a:t>Dashboard &amp; reporting (JSON / CSV export)</a:t>
            </a:r>
          </a:p>
          <a:p>
            <a:pPr marL="0" indent="0" algn="l">
              <a:spcBef>
                <a:spcPts val="1600"/>
              </a:spcBef>
              <a:spcAft>
                <a:spcPts val="600"/>
              </a:spcAft>
              <a:buNone/>
            </a:pPr>
            <a:r>
              <a:rPr sz="2100" b="1" dirty="0">
                <a:solidFill>
                  <a:srgbClr val="1F3864"/>
                </a:solidFill>
                <a:latin typeface="Times New Roman"/>
              </a:rPr>
              <a:t>Non-Functional Requirements</a:t>
            </a:r>
          </a:p>
          <a:p>
            <a:pPr marL="347472" indent="-347472" algn="l">
              <a:spcAft>
                <a:spcPts val="800"/>
              </a:spcAft>
              <a:buFont typeface="Arial"/>
              <a:buChar char="•"/>
            </a:pPr>
            <a:r>
              <a:rPr sz="2100" b="0" dirty="0">
                <a:solidFill>
                  <a:srgbClr val="262626"/>
                </a:solidFill>
                <a:latin typeface="Times New Roman"/>
              </a:rPr>
              <a:t>Security</a:t>
            </a:r>
          </a:p>
          <a:p>
            <a:pPr marL="347472" indent="-347472" algn="l">
              <a:spcAft>
                <a:spcPts val="800"/>
              </a:spcAft>
              <a:buFont typeface="Arial"/>
              <a:buChar char="•"/>
            </a:pPr>
            <a:r>
              <a:rPr sz="2100" b="0" dirty="0">
                <a:solidFill>
                  <a:srgbClr val="262626"/>
                </a:solidFill>
                <a:latin typeface="Times New Roman"/>
              </a:rPr>
              <a:t>Performance</a:t>
            </a:r>
          </a:p>
          <a:p>
            <a:pPr marL="347472" indent="-347472" algn="l">
              <a:spcAft>
                <a:spcPts val="800"/>
              </a:spcAft>
              <a:buFont typeface="Arial"/>
              <a:buChar char="•"/>
            </a:pPr>
            <a:r>
              <a:rPr sz="2100" b="0" dirty="0">
                <a:solidFill>
                  <a:srgbClr val="262626"/>
                </a:solidFill>
                <a:latin typeface="Times New Roman"/>
              </a:rPr>
              <a:t>Scalability</a:t>
            </a:r>
          </a:p>
          <a:p>
            <a:pPr marL="347472" indent="-347472" algn="l">
              <a:spcAft>
                <a:spcPts val="800"/>
              </a:spcAft>
              <a:buFont typeface="Arial"/>
              <a:buChar char="•"/>
            </a:pPr>
            <a:r>
              <a:rPr sz="2100" b="0" dirty="0">
                <a:solidFill>
                  <a:srgbClr val="262626"/>
                </a:solidFill>
                <a:latin typeface="Times New Roman"/>
              </a:rPr>
              <a:t>Reliability</a:t>
            </a:r>
          </a:p>
          <a:p>
            <a:pPr marL="347472" indent="-347472" algn="l">
              <a:spcAft>
                <a:spcPts val="800"/>
              </a:spcAft>
              <a:buFont typeface="Arial"/>
              <a:buChar char="•"/>
            </a:pPr>
            <a:r>
              <a:rPr sz="2100" b="0" dirty="0">
                <a:solidFill>
                  <a:srgbClr val="262626"/>
                </a:solidFill>
                <a:latin typeface="Times New Roman"/>
              </a:rPr>
              <a:t>Usability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20954"/>
            <a:ext cx="4480560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TECHNOLOGY STACK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1554480"/>
            <a:ext cx="8961120" cy="43293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sz="1900" b="1" dirty="0">
                <a:solidFill>
                  <a:srgbClr val="1F3864"/>
                </a:solidFill>
                <a:latin typeface="Times New Roman"/>
              </a:rPr>
              <a:t>Backend Technologies</a:t>
            </a:r>
          </a:p>
          <a:p>
            <a:pPr marL="347472" indent="-347472" algn="l">
              <a:spcAft>
                <a:spcPts val="400"/>
              </a:spcAft>
              <a:buFont typeface="Arial"/>
              <a:buChar char="•"/>
            </a:pPr>
            <a:r>
              <a:rPr sz="1900" b="1" dirty="0">
                <a:solidFill>
                  <a:srgbClr val="262626"/>
                </a:solidFill>
                <a:latin typeface="Times New Roman"/>
              </a:rPr>
              <a:t>Language: </a:t>
            </a:r>
            <a:r>
              <a:rPr sz="1900" b="0" dirty="0">
                <a:solidFill>
                  <a:srgbClr val="262626"/>
                </a:solidFill>
                <a:latin typeface="Times New Roman"/>
              </a:rPr>
              <a:t>Java 21 LTS</a:t>
            </a:r>
          </a:p>
          <a:p>
            <a:pPr marL="347472" indent="-347472" algn="l">
              <a:spcAft>
                <a:spcPts val="400"/>
              </a:spcAft>
              <a:buFont typeface="Arial"/>
              <a:buChar char="•"/>
            </a:pPr>
            <a:r>
              <a:rPr sz="1900" b="1" dirty="0">
                <a:solidFill>
                  <a:srgbClr val="262626"/>
                </a:solidFill>
                <a:latin typeface="Times New Roman"/>
              </a:rPr>
              <a:t>Framework: </a:t>
            </a:r>
            <a:r>
              <a:rPr sz="1900" b="0" dirty="0">
                <a:solidFill>
                  <a:srgbClr val="262626"/>
                </a:solidFill>
                <a:latin typeface="Times New Roman"/>
              </a:rPr>
              <a:t>Spring Boot 3.3.3</a:t>
            </a:r>
          </a:p>
          <a:p>
            <a:pPr marL="347472" indent="-347472" algn="l">
              <a:spcAft>
                <a:spcPts val="400"/>
              </a:spcAft>
              <a:buFont typeface="Arial"/>
              <a:buChar char="•"/>
            </a:pPr>
            <a:r>
              <a:rPr sz="1900" b="1" dirty="0">
                <a:solidFill>
                  <a:srgbClr val="262626"/>
                </a:solidFill>
                <a:latin typeface="Times New Roman"/>
              </a:rPr>
              <a:t>Security: </a:t>
            </a:r>
            <a:r>
              <a:rPr sz="1900" b="0" dirty="0">
                <a:solidFill>
                  <a:srgbClr val="262626"/>
                </a:solidFill>
                <a:latin typeface="Times New Roman"/>
              </a:rPr>
              <a:t>Spring Security 6 with stateless JWT</a:t>
            </a:r>
          </a:p>
          <a:p>
            <a:pPr marL="347472" indent="-347472" algn="l">
              <a:spcAft>
                <a:spcPts val="400"/>
              </a:spcAft>
              <a:buFont typeface="Arial"/>
              <a:buChar char="•"/>
            </a:pPr>
            <a:r>
              <a:rPr sz="1900" b="1" dirty="0">
                <a:solidFill>
                  <a:srgbClr val="262626"/>
                </a:solidFill>
                <a:latin typeface="Times New Roman"/>
              </a:rPr>
              <a:t>Database: </a:t>
            </a:r>
            <a:r>
              <a:rPr sz="1900" b="0" dirty="0">
                <a:solidFill>
                  <a:srgbClr val="262626"/>
                </a:solidFill>
                <a:latin typeface="Times New Roman"/>
              </a:rPr>
              <a:t>MySQL </a:t>
            </a:r>
          </a:p>
          <a:p>
            <a:pPr marL="347472" indent="-347472" algn="l">
              <a:spcAft>
                <a:spcPts val="400"/>
              </a:spcAft>
              <a:buFont typeface="Arial"/>
              <a:buChar char="•"/>
            </a:pPr>
            <a:r>
              <a:rPr sz="1900" b="1" dirty="0">
                <a:solidFill>
                  <a:srgbClr val="262626"/>
                </a:solidFill>
                <a:latin typeface="Times New Roman"/>
              </a:rPr>
              <a:t>Real-time: </a:t>
            </a:r>
            <a:r>
              <a:rPr sz="1900" b="0" dirty="0">
                <a:solidFill>
                  <a:srgbClr val="262626"/>
                </a:solidFill>
                <a:latin typeface="Times New Roman"/>
              </a:rPr>
              <a:t>Spring WebSocket (STOMP, </a:t>
            </a:r>
            <a:r>
              <a:rPr sz="1900" b="0" dirty="0" err="1">
                <a:solidFill>
                  <a:srgbClr val="262626"/>
                </a:solidFill>
                <a:latin typeface="Times New Roman"/>
              </a:rPr>
              <a:t>SockJS</a:t>
            </a:r>
            <a:r>
              <a:rPr sz="1900" b="0" dirty="0">
                <a:solidFill>
                  <a:srgbClr val="262626"/>
                </a:solidFill>
                <a:latin typeface="Times New Roman"/>
              </a:rPr>
              <a:t>)</a:t>
            </a:r>
          </a:p>
          <a:p>
            <a:pPr marL="0" indent="0" algn="l">
              <a:spcBef>
                <a:spcPts val="1600"/>
              </a:spcBef>
              <a:spcAft>
                <a:spcPts val="600"/>
              </a:spcAft>
              <a:buNone/>
            </a:pPr>
            <a:r>
              <a:rPr sz="1900" b="1" dirty="0">
                <a:solidFill>
                  <a:srgbClr val="1F3864"/>
                </a:solidFill>
                <a:latin typeface="Times New Roman"/>
              </a:rPr>
              <a:t>Frontend Technologies</a:t>
            </a:r>
          </a:p>
          <a:p>
            <a:pPr marL="347472" indent="-347472" algn="l">
              <a:spcAft>
                <a:spcPts val="400"/>
              </a:spcAft>
              <a:buFont typeface="Arial"/>
              <a:buChar char="•"/>
            </a:pPr>
            <a:r>
              <a:rPr sz="1900" b="1" dirty="0">
                <a:solidFill>
                  <a:srgbClr val="262626"/>
                </a:solidFill>
                <a:latin typeface="Times New Roman"/>
              </a:rPr>
              <a:t>Framework: </a:t>
            </a:r>
            <a:r>
              <a:rPr sz="1900" b="0" dirty="0">
                <a:solidFill>
                  <a:srgbClr val="262626"/>
                </a:solidFill>
                <a:latin typeface="Times New Roman"/>
              </a:rPr>
              <a:t>React 19, Vite, ES Modules</a:t>
            </a:r>
          </a:p>
          <a:p>
            <a:pPr marL="347472" indent="-347472" algn="l">
              <a:spcAft>
                <a:spcPts val="400"/>
              </a:spcAft>
              <a:buFont typeface="Arial"/>
              <a:buChar char="•"/>
            </a:pPr>
            <a:r>
              <a:rPr sz="1900" b="1" dirty="0">
                <a:solidFill>
                  <a:srgbClr val="262626"/>
                </a:solidFill>
                <a:latin typeface="Times New Roman"/>
              </a:rPr>
              <a:t>Styling: </a:t>
            </a:r>
            <a:r>
              <a:rPr sz="1900" b="0" dirty="0">
                <a:solidFill>
                  <a:srgbClr val="262626"/>
                </a:solidFill>
                <a:latin typeface="Times New Roman"/>
              </a:rPr>
              <a:t>Tailwind CSS v4</a:t>
            </a:r>
          </a:p>
          <a:p>
            <a:pPr marL="347472" indent="-347472" algn="l">
              <a:spcAft>
                <a:spcPts val="400"/>
              </a:spcAft>
              <a:buFont typeface="Arial"/>
              <a:buChar char="•"/>
            </a:pPr>
            <a:r>
              <a:rPr sz="1900" b="1" dirty="0">
                <a:solidFill>
                  <a:srgbClr val="262626"/>
                </a:solidFill>
                <a:latin typeface="Times New Roman"/>
              </a:rPr>
              <a:t>Charts: </a:t>
            </a:r>
            <a:r>
              <a:rPr sz="1900" b="0" dirty="0">
                <a:solidFill>
                  <a:srgbClr val="262626"/>
                </a:solidFill>
                <a:latin typeface="Times New Roman"/>
              </a:rPr>
              <a:t>Recharts</a:t>
            </a:r>
          </a:p>
          <a:p>
            <a:pPr marL="347472" indent="-347472" algn="l">
              <a:spcAft>
                <a:spcPts val="400"/>
              </a:spcAft>
              <a:buFont typeface="Arial"/>
              <a:buChar char="•"/>
            </a:pPr>
            <a:r>
              <a:rPr sz="1900" b="1" dirty="0">
                <a:solidFill>
                  <a:srgbClr val="262626"/>
                </a:solidFill>
                <a:latin typeface="Times New Roman"/>
              </a:rPr>
              <a:t>Icons: </a:t>
            </a:r>
            <a:r>
              <a:rPr sz="1900" b="0" dirty="0" err="1">
                <a:solidFill>
                  <a:srgbClr val="262626"/>
                </a:solidFill>
                <a:latin typeface="Times New Roman"/>
              </a:rPr>
              <a:t>Lucide</a:t>
            </a:r>
            <a:r>
              <a:rPr sz="1900" b="0" dirty="0">
                <a:solidFill>
                  <a:srgbClr val="262626"/>
                </a:solidFill>
                <a:latin typeface="Times New Roman"/>
              </a:rPr>
              <a:t> React</a:t>
            </a:r>
          </a:p>
          <a:p>
            <a:pPr marL="347472" indent="-347472" algn="l">
              <a:spcAft>
                <a:spcPts val="400"/>
              </a:spcAft>
              <a:buFont typeface="Arial"/>
              <a:buChar char="•"/>
            </a:pPr>
            <a:r>
              <a:rPr sz="1900" b="1" dirty="0">
                <a:solidFill>
                  <a:srgbClr val="262626"/>
                </a:solidFill>
                <a:latin typeface="Times New Roman"/>
              </a:rPr>
              <a:t>Networking: </a:t>
            </a:r>
            <a:r>
              <a:rPr sz="1900" b="0" dirty="0">
                <a:solidFill>
                  <a:srgbClr val="262626"/>
                </a:solidFill>
                <a:latin typeface="Times New Roman"/>
              </a:rPr>
              <a:t>Axios, @stomp/stompjs, </a:t>
            </a:r>
            <a:r>
              <a:rPr sz="1900" b="0" dirty="0" err="1">
                <a:solidFill>
                  <a:srgbClr val="262626"/>
                </a:solidFill>
                <a:latin typeface="Times New Roman"/>
              </a:rPr>
              <a:t>SockJS</a:t>
            </a:r>
            <a:endParaRPr sz="1900" b="0" dirty="0">
              <a:solidFill>
                <a:srgbClr val="262626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2BA52-4E9D-0375-FE23-878F3F5AC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9B9D7996-F90F-F603-26AC-F7F336A5E5B2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371F255B-E3C2-514B-314D-F66B7E2781B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15DC4BEF-3F97-1FD1-766B-6993A6E3B9B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5D2B69A-B1AC-E9F9-398B-669DDE6F33F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F12A947A-04F7-3CCC-CE23-EA9CDA313154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577C080-5C5A-FC4F-16DF-42DC26621F65}"/>
              </a:ext>
            </a:extLst>
          </p:cNvPr>
          <p:cNvSpPr txBox="1"/>
          <p:nvPr/>
        </p:nvSpPr>
        <p:spPr>
          <a:xfrm>
            <a:off x="2788920" y="378939"/>
            <a:ext cx="4480560" cy="3000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IN" sz="1950" b="1" dirty="0">
                <a:solidFill>
                  <a:srgbClr val="FFFFFF"/>
                </a:solidFill>
                <a:latin typeface="Times New Roman"/>
              </a:rPr>
              <a:t>SYSTEM ARCHITECTURE</a:t>
            </a:r>
            <a:endParaRPr sz="1950" b="1" i="0" dirty="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0" name="Picture 9" descr="image.jpg">
            <a:extLst>
              <a:ext uri="{FF2B5EF4-FFF2-40B4-BE49-F238E27FC236}">
                <a16:creationId xmlns:a16="http://schemas.microsoft.com/office/drawing/2014/main" id="{476DC8DF-466E-2DD7-833A-CFD65A965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099281-00F0-50BD-8D6A-316612F23D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205427"/>
            <a:ext cx="838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20954"/>
            <a:ext cx="4480560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SYSTEM WORKFLOW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1554480"/>
            <a:ext cx="896112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7472" indent="-347472" algn="l">
              <a:spcAft>
                <a:spcPts val="200"/>
              </a:spcAft>
              <a:buFont typeface="Arial"/>
              <a:buChar char="•"/>
            </a:pPr>
            <a:r>
              <a:rPr sz="2000" b="1" dirty="0">
                <a:solidFill>
                  <a:srgbClr val="262626"/>
                </a:solidFill>
                <a:latin typeface="Times New Roman"/>
              </a:rPr>
              <a:t>Log Generation</a:t>
            </a:r>
          </a:p>
          <a:p>
            <a:pPr marL="347472" indent="0" algn="l">
              <a:spcAft>
                <a:spcPts val="1400"/>
              </a:spcAft>
              <a:buNone/>
            </a:pPr>
            <a:r>
              <a:rPr sz="2000" b="0" dirty="0">
                <a:solidFill>
                  <a:srgbClr val="262626"/>
                </a:solidFill>
                <a:latin typeface="Times New Roman"/>
              </a:rPr>
              <a:t>Firewalls, servers, databases and VPNs generate security logs.</a:t>
            </a:r>
          </a:p>
          <a:p>
            <a:pPr marL="347472" indent="-347472" algn="l">
              <a:spcAft>
                <a:spcPts val="200"/>
              </a:spcAft>
              <a:buFont typeface="Arial"/>
              <a:buChar char="•"/>
            </a:pPr>
            <a:r>
              <a:rPr sz="2000" b="1" dirty="0">
                <a:solidFill>
                  <a:srgbClr val="262626"/>
                </a:solidFill>
                <a:latin typeface="Times New Roman"/>
              </a:rPr>
              <a:t>Ingestion &amp; Normalization</a:t>
            </a:r>
          </a:p>
          <a:p>
            <a:pPr marL="347472" indent="0" algn="l">
              <a:spcAft>
                <a:spcPts val="1400"/>
              </a:spcAft>
              <a:buNone/>
            </a:pPr>
            <a:r>
              <a:rPr sz="2000" b="0" dirty="0">
                <a:solidFill>
                  <a:srgbClr val="262626"/>
                </a:solidFill>
                <a:latin typeface="Times New Roman"/>
              </a:rPr>
              <a:t>Raw logs are converted into the unified </a:t>
            </a:r>
            <a:r>
              <a:rPr sz="2000" b="0" dirty="0" err="1">
                <a:solidFill>
                  <a:srgbClr val="262626"/>
                </a:solidFill>
                <a:latin typeface="Times New Roman"/>
              </a:rPr>
              <a:t>SecurityLog</a:t>
            </a:r>
            <a:r>
              <a:rPr sz="2000" b="0" dirty="0">
                <a:solidFill>
                  <a:srgbClr val="262626"/>
                </a:solidFill>
                <a:latin typeface="Times New Roman"/>
              </a:rPr>
              <a:t> schema.</a:t>
            </a:r>
          </a:p>
          <a:p>
            <a:pPr marL="347472" indent="-347472" algn="l">
              <a:spcAft>
                <a:spcPts val="200"/>
              </a:spcAft>
              <a:buFont typeface="Arial"/>
              <a:buChar char="•"/>
            </a:pPr>
            <a:r>
              <a:rPr sz="2000" b="1" dirty="0">
                <a:solidFill>
                  <a:srgbClr val="262626"/>
                </a:solidFill>
                <a:latin typeface="Times New Roman"/>
              </a:rPr>
              <a:t>Detection</a:t>
            </a:r>
          </a:p>
          <a:p>
            <a:pPr marL="347472" indent="0" algn="l">
              <a:spcAft>
                <a:spcPts val="1400"/>
              </a:spcAft>
              <a:buNone/>
            </a:pPr>
            <a:r>
              <a:rPr sz="2000" b="0" dirty="0">
                <a:solidFill>
                  <a:srgbClr val="262626"/>
                </a:solidFill>
                <a:latin typeface="Times New Roman"/>
              </a:rPr>
              <a:t>Sliding-window rules evaluate every event.</a:t>
            </a:r>
          </a:p>
          <a:p>
            <a:pPr marL="347472" indent="-347472" algn="l">
              <a:spcAft>
                <a:spcPts val="200"/>
              </a:spcAft>
              <a:buFont typeface="Arial"/>
              <a:buChar char="•"/>
            </a:pPr>
            <a:r>
              <a:rPr sz="2000" b="1" dirty="0">
                <a:solidFill>
                  <a:srgbClr val="262626"/>
                </a:solidFill>
                <a:latin typeface="Times New Roman"/>
              </a:rPr>
              <a:t>Alerting</a:t>
            </a:r>
          </a:p>
          <a:p>
            <a:pPr marL="347472" indent="0" algn="l">
              <a:spcAft>
                <a:spcPts val="1400"/>
              </a:spcAft>
              <a:buNone/>
            </a:pPr>
            <a:r>
              <a:rPr sz="2000" b="0" dirty="0">
                <a:solidFill>
                  <a:srgbClr val="262626"/>
                </a:solidFill>
                <a:latin typeface="Times New Roman"/>
              </a:rPr>
              <a:t>Alerts stream to the dashboard in real time via STOMP WebSocket.</a:t>
            </a:r>
          </a:p>
          <a:p>
            <a:pPr marL="347472" indent="-347472" algn="l">
              <a:spcAft>
                <a:spcPts val="200"/>
              </a:spcAft>
              <a:buFont typeface="Arial"/>
              <a:buChar char="•"/>
            </a:pPr>
            <a:r>
              <a:rPr sz="2000" b="1" dirty="0">
                <a:solidFill>
                  <a:srgbClr val="262626"/>
                </a:solidFill>
                <a:latin typeface="Times New Roman"/>
              </a:rPr>
              <a:t>Triage</a:t>
            </a:r>
          </a:p>
          <a:p>
            <a:pPr marL="347472" indent="0" algn="l">
              <a:spcAft>
                <a:spcPts val="1400"/>
              </a:spcAft>
              <a:buNone/>
            </a:pPr>
            <a:r>
              <a:rPr sz="2000" b="0" dirty="0">
                <a:solidFill>
                  <a:srgbClr val="262626"/>
                </a:solidFill>
                <a:latin typeface="Times New Roman"/>
              </a:rPr>
              <a:t>Analysts acknowledge, resolve or escalate alerts.</a:t>
            </a:r>
          </a:p>
          <a:p>
            <a:pPr marL="347472" indent="-347472" algn="l">
              <a:spcAft>
                <a:spcPts val="200"/>
              </a:spcAft>
              <a:buFont typeface="Arial"/>
              <a:buChar char="•"/>
            </a:pPr>
            <a:r>
              <a:rPr sz="2000" b="1" dirty="0">
                <a:solidFill>
                  <a:srgbClr val="262626"/>
                </a:solidFill>
                <a:latin typeface="Times New Roman"/>
              </a:rPr>
              <a:t>Incident Response</a:t>
            </a:r>
          </a:p>
          <a:p>
            <a:pPr marL="347472" indent="0" algn="l">
              <a:spcAft>
                <a:spcPts val="1400"/>
              </a:spcAft>
              <a:buNone/>
            </a:pPr>
            <a:r>
              <a:rPr sz="2000" b="0" dirty="0">
                <a:solidFill>
                  <a:srgbClr val="262626"/>
                </a:solidFill>
                <a:latin typeface="Times New Roman"/>
              </a:rPr>
              <a:t>Incidents move from OPEN to INVESTIGATING, RESOLVED and CLOSED (NIST SP 800-61).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78939"/>
            <a:ext cx="4480560" cy="3000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 dirty="0">
                <a:solidFill>
                  <a:srgbClr val="FFFFFF"/>
                </a:solidFill>
                <a:latin typeface="Times New Roman"/>
              </a:rPr>
              <a:t> MODULES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623" y="1440429"/>
            <a:ext cx="8961120" cy="48731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 &amp; Access Control</a:t>
            </a:r>
          </a:p>
          <a:p>
            <a:pPr>
              <a:spcAft>
                <a:spcPts val="14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Secure JWT login with Admin and Analyst roles.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Log Ingestion &amp; Management</a:t>
            </a:r>
          </a:p>
          <a:p>
            <a:pPr>
              <a:spcAft>
                <a:spcPts val="14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Collect, normalize, search, and filter security logs.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Threat Detection &amp; Alerting</a:t>
            </a:r>
          </a:p>
          <a:p>
            <a:pPr>
              <a:spcAft>
                <a:spcPts val="14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Detect suspicious activities and generate security alerts.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SOC Monitoring Dashboard</a:t>
            </a:r>
          </a:p>
          <a:p>
            <a:pPr>
              <a:spcAft>
                <a:spcPts val="14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Display real-time events, KPIs, charts, and alerts.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Incident Management</a:t>
            </a:r>
          </a:p>
          <a:p>
            <a:pPr>
              <a:spcAft>
                <a:spcPts val="14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Investigate, track, resolve, and escalate security incidents.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Audit &amp; Administration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Manage users, detection rules, telemetry sources, and audit logs.</a:t>
            </a:r>
          </a:p>
          <a:p>
            <a:pPr algn="l">
              <a:spcAft>
                <a:spcPts val="200"/>
              </a:spcAft>
            </a:pPr>
            <a:endParaRPr sz="2000" b="0" dirty="0">
              <a:solidFill>
                <a:srgbClr val="26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20954"/>
            <a:ext cx="4480560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LOGIN PAGE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pic>
        <p:nvPicPr>
          <p:cNvPr id="11" name="Picture 10" descr="Screenshot_2026-09-23_2122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1886753"/>
            <a:ext cx="8961120" cy="4404360"/>
          </a:xfrm>
          <a:prstGeom prst="rect">
            <a:avLst/>
          </a:prstGeom>
          <a:ln w="12700">
            <a:solidFill>
              <a:srgbClr val="BFC6D4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20954"/>
            <a:ext cx="4480560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SOC DASHBOARD – ADMIN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pic>
        <p:nvPicPr>
          <p:cNvPr id="11" name="Picture 10" descr="Screenshot_2026-09-23_2123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1886753"/>
            <a:ext cx="8961120" cy="4404360"/>
          </a:xfrm>
          <a:prstGeom prst="rect">
            <a:avLst/>
          </a:prstGeom>
          <a:ln w="12700">
            <a:solidFill>
              <a:srgbClr val="BFC6D4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20954"/>
            <a:ext cx="4480560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SOC DASHBOARD – ANALYST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pic>
        <p:nvPicPr>
          <p:cNvPr id="11" name="Picture 10" descr="Screenshot_2026-09-23_21234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772" y="1722120"/>
            <a:ext cx="8961120" cy="4328160"/>
          </a:xfrm>
          <a:prstGeom prst="rect">
            <a:avLst/>
          </a:prstGeom>
          <a:ln w="12700">
            <a:solidFill>
              <a:srgbClr val="BFC6D4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53812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788920" y="320954"/>
            <a:ext cx="4480560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1737360"/>
            <a:ext cx="8961120" cy="2698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7472" indent="-347472" algn="just">
              <a:spcAft>
                <a:spcPts val="2600"/>
              </a:spcAft>
              <a:buFont typeface="Arial"/>
              <a:buChar char="•"/>
            </a:pPr>
            <a:r>
              <a:rPr sz="2200" b="0" dirty="0" err="1">
                <a:solidFill>
                  <a:srgbClr val="262626"/>
                </a:solidFill>
                <a:latin typeface="Times New Roman"/>
              </a:rPr>
              <a:t>CloudSentinel</a:t>
            </a:r>
            <a:r>
              <a:rPr sz="2200" b="0" dirty="0">
                <a:solidFill>
                  <a:srgbClr val="262626"/>
                </a:solidFill>
                <a:latin typeface="Times New Roman"/>
              </a:rPr>
              <a:t> centralizes security telemetry from multi-cloud, on-premise and perimeter sources.</a:t>
            </a:r>
          </a:p>
          <a:p>
            <a:pPr marL="347472" indent="-347472" algn="just">
              <a:spcAft>
                <a:spcPts val="2600"/>
              </a:spcAft>
              <a:buFont typeface="Arial"/>
              <a:buChar char="•"/>
            </a:pPr>
            <a:r>
              <a:rPr sz="2200" b="0" dirty="0">
                <a:solidFill>
                  <a:srgbClr val="262626"/>
                </a:solidFill>
                <a:latin typeface="Times New Roman"/>
              </a:rPr>
              <a:t>By normalizing every log into one schema, the system applies consistent rule-based and multi-stage detection and raises alerts instantly.</a:t>
            </a:r>
          </a:p>
          <a:p>
            <a:pPr marL="347472" indent="-347472" algn="just">
              <a:spcAft>
                <a:spcPts val="2600"/>
              </a:spcAft>
              <a:buFont typeface="Arial"/>
              <a:buChar char="•"/>
            </a:pPr>
            <a:r>
              <a:rPr sz="2200" b="0" dirty="0">
                <a:solidFill>
                  <a:srgbClr val="262626"/>
                </a:solidFill>
                <a:latin typeface="Times New Roman"/>
              </a:rPr>
              <a:t>Analysts get a real-time SOC dashboard, a full incident lifecycle and audit-ready compliance logs to respond faster.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"/>
            <a:ext cx="1161288" cy="4237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01752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7030A0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4011</TotalTime>
  <Words>992</Words>
  <Application>Microsoft Office PowerPoint</Application>
  <PresentationFormat>Custom</PresentationFormat>
  <Paragraphs>114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Madhu Kiran</cp:lastModifiedBy>
  <cp:revision>85</cp:revision>
  <cp:lastPrinted>2025-10-14T18:21:49Z</cp:lastPrinted>
  <dcterms:created xsi:type="dcterms:W3CDTF">2025-10-10T08:28:06Z</dcterms:created>
  <dcterms:modified xsi:type="dcterms:W3CDTF">2026-10-28T04:17:44Z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